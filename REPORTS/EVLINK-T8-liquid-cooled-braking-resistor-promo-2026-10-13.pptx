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f594f79634342" /><Relationship Type="http://schemas.openxmlformats.org/officeDocument/2006/relationships/extended-properties" Target="/docProps/app.xml" Id="Rc115962677d04f1b" /><Relationship Type="http://schemas.openxmlformats.org/officeDocument/2006/relationships/officeDocument" Target="/ppt/presentation.xml" Id="R2fa3fb0545d3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2dddd7d064db4"/>
  </p:sldMasterIdLst>
  <p:notesMasterIdLst>
    <p:notesMasterId xmlns:r="http://schemas.openxmlformats.org/officeDocument/2006/relationships" r:id="Rc9e7483463674e66"/>
  </p:notesMasterIdLst>
  <p:sldIdLst>
    <p:sldId xmlns:r="http://schemas.openxmlformats.org/officeDocument/2006/relationships" id="256" r:id="R47d82a41320648a4"/>
    <p:sldId xmlns:r="http://schemas.openxmlformats.org/officeDocument/2006/relationships" id="257" r:id="R7ebc3722b46e465d"/>
    <p:sldId xmlns:r="http://schemas.openxmlformats.org/officeDocument/2006/relationships" id="258" r:id="Rf8b8262e07614607"/>
    <p:sldId xmlns:r="http://schemas.openxmlformats.org/officeDocument/2006/relationships" id="259" r:id="R8f9669cd959a4b8b"/>
    <p:sldId xmlns:r="http://schemas.openxmlformats.org/officeDocument/2006/relationships" id="260" r:id="R41413ea8ac374a61"/>
    <p:sldId xmlns:r="http://schemas.openxmlformats.org/officeDocument/2006/relationships" id="261" r:id="Re68f6b03fdea49ce"/>
    <p:sldId xmlns:r="http://schemas.openxmlformats.org/officeDocument/2006/relationships" id="262" r:id="Reb25c9af3cff45ec"/>
    <p:sldId xmlns:r="http://schemas.openxmlformats.org/officeDocument/2006/relationships" id="263" r:id="R98e698a1b9bb4e94"/>
    <p:sldId xmlns:r="http://schemas.openxmlformats.org/officeDocument/2006/relationships" id="264" r:id="Rdd5cdc4f413f471a"/>
    <p:sldId xmlns:r="http://schemas.openxmlformats.org/officeDocument/2006/relationships" id="265" r:id="Rcb50ff8f203d46bd"/>
    <p:sldId xmlns:r="http://schemas.openxmlformats.org/officeDocument/2006/relationships" id="266" r:id="R2e569ee9fcc841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15bb816a1493e" /><Relationship Type="http://schemas.openxmlformats.org/officeDocument/2006/relationships/slideMaster" Target="/ppt/slideMasters/slideMaster1.xml" Id="R1992dddd7d064db4" /><Relationship Type="http://schemas.openxmlformats.org/officeDocument/2006/relationships/notesMaster" Target="/ppt/notesMasters/notesMaster1.xml" Id="Rc9e7483463674e66" /><Relationship Type="http://schemas.openxmlformats.org/officeDocument/2006/relationships/presProps" Target="/ppt/presProps.xml" Id="Rf3d762bf942e4258" /><Relationship Type="http://schemas.openxmlformats.org/officeDocument/2006/relationships/tableStyles" Target="/ppt/tableStyles.xml" Id="R44ccfcdf25c34b10" /><Relationship Type="http://schemas.openxmlformats.org/officeDocument/2006/relationships/slide" Target="/ppt/slides/slide1.xml" Id="R47d82a41320648a4" /><Relationship Type="http://schemas.openxmlformats.org/officeDocument/2006/relationships/slide" Target="/ppt/slides/slide2.xml" Id="R7ebc3722b46e465d" /><Relationship Type="http://schemas.openxmlformats.org/officeDocument/2006/relationships/slide" Target="/ppt/slides/slide3.xml" Id="Rf8b8262e07614607" /><Relationship Type="http://schemas.openxmlformats.org/officeDocument/2006/relationships/slide" Target="/ppt/slides/slide4.xml" Id="R8f9669cd959a4b8b" /><Relationship Type="http://schemas.openxmlformats.org/officeDocument/2006/relationships/slide" Target="/ppt/slides/slide5.xml" Id="R41413ea8ac374a61" /><Relationship Type="http://schemas.openxmlformats.org/officeDocument/2006/relationships/slide" Target="/ppt/slides/slide6.xml" Id="Re68f6b03fdea49ce" /><Relationship Type="http://schemas.openxmlformats.org/officeDocument/2006/relationships/slide" Target="/ppt/slides/slide7.xml" Id="Reb25c9af3cff45ec" /><Relationship Type="http://schemas.openxmlformats.org/officeDocument/2006/relationships/slide" Target="/ppt/slides/slide8.xml" Id="R98e698a1b9bb4e94" /><Relationship Type="http://schemas.openxmlformats.org/officeDocument/2006/relationships/slide" Target="/ppt/slides/slide9.xml" Id="Rdd5cdc4f413f471a" /><Relationship Type="http://schemas.openxmlformats.org/officeDocument/2006/relationships/slide" Target="/ppt/slides/slide10.xml" Id="Rcb50ff8f203d46bd" /><Relationship Type="http://schemas.openxmlformats.org/officeDocument/2006/relationships/slide" Target="/ppt/slides/slide11.xml" Id="R2e569ee9fcc8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1e9198315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d46aa71ac4441e" /><Relationship Type="http://schemas.openxmlformats.org/officeDocument/2006/relationships/notesMaster" Target="/ppt/notesMasters/notesMaster1.xml" Id="Rf8d191d10f90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18af1bfc694a7d" /><Relationship Type="http://schemas.openxmlformats.org/officeDocument/2006/relationships/notesMaster" Target="/ppt/notesMasters/notesMaster1.xml" Id="R19735d9d91b042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b6bd0514864e8a" /><Relationship Type="http://schemas.openxmlformats.org/officeDocument/2006/relationships/notesMaster" Target="/ppt/notesMasters/notesMaster1.xml" Id="R48631eaa35d8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df2d047b1f4d0d" /><Relationship Type="http://schemas.openxmlformats.org/officeDocument/2006/relationships/notesMaster" Target="/ppt/notesMasters/notesMaster1.xml" Id="Rc979dd80db7444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8b900d21b64891" /><Relationship Type="http://schemas.openxmlformats.org/officeDocument/2006/relationships/notesMaster" Target="/ppt/notesMasters/notesMaster1.xml" Id="Ra684f24d370147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7e572ddea4358" /><Relationship Type="http://schemas.openxmlformats.org/officeDocument/2006/relationships/notesMaster" Target="/ppt/notesMasters/notesMaster1.xml" Id="Rc69082e448e8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9c2cd5c38849e8" /><Relationship Type="http://schemas.openxmlformats.org/officeDocument/2006/relationships/notesMaster" Target="/ppt/notesMasters/notesMaster1.xml" Id="R9f367ee8985347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9e77342b4c417b" /><Relationship Type="http://schemas.openxmlformats.org/officeDocument/2006/relationships/notesMaster" Target="/ppt/notesMasters/notesMaster1.xml" Id="R23041e43a2e0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605164fb704c11" /><Relationship Type="http://schemas.openxmlformats.org/officeDocument/2006/relationships/notesMaster" Target="/ppt/notesMasters/notesMaster1.xml" Id="R368eddcc521347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92cc1806e459b" /><Relationship Type="http://schemas.openxmlformats.org/officeDocument/2006/relationships/notesMaster" Target="/ppt/notesMasters/notesMaster1.xml" Id="R9c34ef423c674e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93a2f9a5d84adb" /><Relationship Type="http://schemas.openxmlformats.org/officeDocument/2006/relationships/notesMaster" Target="/ppt/notesMasters/notesMaster1.xml" Id="R1423b087dcd5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bd92a625141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0ffa00b6048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2de15bb8746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20c2404754d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b559cc3744a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ecba1f4704f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96B943-350A-4D67-B7B7-59A5B56BD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0097D2-E071-446A-BA70-0479FC8CBF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B05219-70A0-4938-8D86-1234802BD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4F43B1-9EF2-46B1-828C-F8B142040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FF1F4D-BDA4-45EE-BDBF-3618592EC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0BED12-C4F0-4B4C-8482-6D7A49594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ACA031-2600-457B-84AB-D7A0C764F8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2E35F3-BC6B-40BA-963F-5722BC3413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94244E-C7E8-4B37-9F1F-36C4958BE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4AA87C-FCD1-4952-8854-7AF323EADE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1feb98cd8494d" /><Relationship Type="http://schemas.openxmlformats.org/officeDocument/2006/relationships/slideLayout" Target="/ppt/slideLayouts/slideLayout1.xml" Id="Ra2eb39c54ead4cef" /><Relationship Type="http://schemas.openxmlformats.org/officeDocument/2006/relationships/slideLayout" Target="/ppt/slideLayouts/slideLayout2.xml" Id="R711001d50e4e4226" /><Relationship Type="http://schemas.openxmlformats.org/officeDocument/2006/relationships/slideLayout" Target="/ppt/slideLayouts/slideLayout3.xml" Id="R7e469d8b0fa14dcf" /><Relationship Type="http://schemas.openxmlformats.org/officeDocument/2006/relationships/slideLayout" Target="/ppt/slideLayouts/slideLayout4.xml" Id="Rff0143a7906a4dd2" /><Relationship Type="http://schemas.openxmlformats.org/officeDocument/2006/relationships/slideLayout" Target="/ppt/slideLayouts/slideLayout5.xml" Id="R0c0ff7d49aca4954" /><Relationship Type="http://schemas.openxmlformats.org/officeDocument/2006/relationships/slideLayout" Target="/ppt/slideLayouts/slideLayout6.xml" Id="Re25943293940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b39c54ead4cef"/>
    <p:sldLayoutId xmlns:r="http://schemas.openxmlformats.org/officeDocument/2006/relationships" id="2147483650" r:id="R711001d50e4e4226"/>
    <p:sldLayoutId xmlns:r="http://schemas.openxmlformats.org/officeDocument/2006/relationships" id="2147483651" r:id="R7e469d8b0fa14dcf"/>
    <p:sldLayoutId xmlns:r="http://schemas.openxmlformats.org/officeDocument/2006/relationships" id="2147483652" r:id="Rff0143a7906a4dd2"/>
    <p:sldLayoutId xmlns:r="http://schemas.openxmlformats.org/officeDocument/2006/relationships" id="2147483653" r:id="R0c0ff7d49aca4954"/>
    <p:sldLayoutId xmlns:r="http://schemas.openxmlformats.org/officeDocument/2006/relationships" id="2147483654" r:id="Re25943293940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78091167545a3" /><Relationship Type="http://schemas.openxmlformats.org/officeDocument/2006/relationships/image" Target="/ppt/media/image.png" Id="R07f91f7c52624337" /><Relationship Type="http://schemas.openxmlformats.org/officeDocument/2006/relationships/notesSlide" Target="/ppt/notesSlides/notesSlide1.xml" Id="Rc09e0bc780e3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e95c72dcd449a" /><Relationship Type="http://schemas.openxmlformats.org/officeDocument/2006/relationships/notesSlide" Target="/ppt/notesSlides/notesSlide2.xml" Id="Raa6410e46c8c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b3f543ad24569" /><Relationship Type="http://schemas.openxmlformats.org/officeDocument/2006/relationships/image" Target="/ppt/media/image2.png" Id="Rc6382a78085d4d30" /><Relationship Type="http://schemas.openxmlformats.org/officeDocument/2006/relationships/notesSlide" Target="/ppt/notesSlides/notesSlide3.xml" Id="R505b50ce309741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c3f6c07864afa" /><Relationship Type="http://schemas.openxmlformats.org/officeDocument/2006/relationships/notesSlide" Target="/ppt/notesSlides/notesSlide4.xml" Id="R752ae4e529a5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0e72c05864c1d" /><Relationship Type="http://schemas.openxmlformats.org/officeDocument/2006/relationships/notesSlide" Target="/ppt/notesSlides/notesSlide5.xml" Id="Rb68d6575d11642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e6254400b4e3f" /><Relationship Type="http://schemas.openxmlformats.org/officeDocument/2006/relationships/image" Target="/ppt/media/image3.png" Id="R5cff1657e5e74c48" /><Relationship Type="http://schemas.openxmlformats.org/officeDocument/2006/relationships/notesSlide" Target="/ppt/notesSlides/notesSlide6.xml" Id="R3e42b2507608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34597cf944f38" /><Relationship Type="http://schemas.openxmlformats.org/officeDocument/2006/relationships/image" Target="/ppt/media/image4.png" Id="R718309e67a4845b8" /><Relationship Type="http://schemas.openxmlformats.org/officeDocument/2006/relationships/image" Target="/ppt/media/image5.png" Id="R7549d19042fd464b" /><Relationship Type="http://schemas.openxmlformats.org/officeDocument/2006/relationships/image" Target="/ppt/media/image6.png" Id="R66155650ca144d87" /><Relationship Type="http://schemas.openxmlformats.org/officeDocument/2006/relationships/image" Target="/ppt/media/image7.png" Id="R226acbd6108b4302" /><Relationship Type="http://schemas.openxmlformats.org/officeDocument/2006/relationships/notesSlide" Target="/ppt/notesSlides/notesSlide7.xml" Id="R0fb514252f6647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dd98538ad46fd" /><Relationship Type="http://schemas.openxmlformats.org/officeDocument/2006/relationships/notesSlide" Target="/ppt/notesSlides/notesSlide8.xml" Id="R584a4a8353ec46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a60f3925646b6" /><Relationship Type="http://schemas.openxmlformats.org/officeDocument/2006/relationships/notesSlide" Target="/ppt/notesSlides/notesSlide9.xml" Id="Raec0c600d0c842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1dc7910804e5c" /><Relationship Type="http://schemas.openxmlformats.org/officeDocument/2006/relationships/notesSlide" Target="/ppt/notesSlides/notesSlide10.xml" Id="Rc2ce080bdec242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b908c1c46420f" /><Relationship Type="http://schemas.openxmlformats.org/officeDocument/2006/relationships/image" Target="/ppt/media/image8.png" Id="Re0dcfde101f6418c" /><Relationship Type="http://schemas.openxmlformats.org/officeDocument/2006/relationships/notesSlide" Target="/ppt/notesSlides/notesSlide11.xml" Id="Ra6d17b7a431f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17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5FA2E-13FF-4D70-995C-7E319FAC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44D67-B824-471D-B614-112BA6E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9C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BC10B-26A7-4D5D-8E6D-D990DCF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高压大功率液冷制动解决方案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D4163-DAEA-4E13-925D-F1EA615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D9E8F3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9E8F3"/>
                </a:solidFill>
              </a:defRPr>
            </a:pPr>
            <a:r>
              <a:rPr sz="1875" b="0">
                <a:solidFill>
                  <a:srgbClr val="D9E8F3"/>
                </a:solidFill>
              </a:rPr>
              <a:t>电动商用车制动能量耗散 · EVLINK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B5AB3-F741-4D66-8F79-FF9502F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EFFB-99B6-4B37-91A5-C2A382408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91f7c52624337"/>
          <a:stretch xmlns:a="http://schemas.openxmlformats.org/drawingml/2006/main"/>
        </p:blipFill>
        <p:spPr>
          <a:xfrm xmlns:a="http://schemas.openxmlformats.org/drawingml/2006/main">
            <a:off x="8715375" y="1290626"/>
            <a:ext cx="2571750" cy="5619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71BDD-5B95-447F-AE9C-0089466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9E8F3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9E8F3"/>
                </a:solidFill>
              </a:defRPr>
            </a:pPr>
            <a:r>
              <a:rPr sz="1275" b="0">
                <a:solidFill>
                  <a:srgbClr val="D9E8F3"/>
                </a:solidFill>
              </a:rPr>
              <a:t>苏州易为联科电子科技有限公司 |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410331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988ED-A2A8-4E06-9A4C-62B574E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为什么电动车需要制动电阻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F691D-C6D8-4088-8D48-4F16B639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C0605-F572-40E2-99E3-75ED5AF8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0A71-AEC2-4D50-A0F9-66D35EFA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243A"/>
                </a:solidFill>
              </a:defRPr>
            </a:pPr>
            <a:r>
              <a:rPr sz="1875" b="1">
                <a:solidFill>
                  <a:srgbClr val="12243A"/>
                </a:solidFill>
              </a:rPr>
              <a:t>再生制动回收的能量，电池不是什么时候都收得下：满电、下坡长、电池温度不合适时，能量无处可去。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7912C-6963-4764-82FE-0A74643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810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75F3-33F5-4A4F-A441-25900D7D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制动电阻的作用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C865C-4738-4C84-BFEE-C6BF2E1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048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243A"/>
                </a:solidFill>
              </a:defRPr>
            </a:pPr>
            <a:r>
              <a:rPr sz="1650" b="0">
                <a:solidFill>
                  <a:srgbClr val="12243A"/>
                </a:solidFill>
              </a:rPr>
              <a:t>把电池收不下的制动能量变成热耗散掉，保证持续制动力矩不中断。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4D50C-6005-4CE2-83F4-E1E32D3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76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94209-A541-4502-90B2-FFC6320D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7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D7D2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D7D2F"/>
                </a:solidFill>
              </a:defRPr>
            </a:pPr>
            <a:r>
              <a:rPr sz="1875" b="1">
                <a:solidFill>
                  <a:srgbClr val="4D7D2F"/>
                </a:solidFill>
              </a:rPr>
              <a:t>法规背景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C26B8-AA30-474F-92F8-35BDF723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7662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243A"/>
                </a:solidFill>
              </a:defRPr>
            </a:pPr>
            <a:r>
              <a:rPr sz="1650" b="0">
                <a:solidFill>
                  <a:srgbClr val="12243A"/>
                </a:solidFill>
              </a:rPr>
              <a:t>持续制动需满足 ECE R13 / GB 12676 相关要求（背景引用）。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85D4D-0952-4FD7-BC61-1ADAEFD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943943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525A0-D76E-4E0A-B658-2B9F419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产品：HVH-R1402 系列液冷制动电阻（140 kW 型号）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564B-8208-4313-A344-33E4185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E5B0D-4FC5-409F-9978-57C4EF07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74993-5E63-439C-B021-9E73DB937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82a78085d4d30"/>
          <a:srcRect xmlns:a="http://schemas.openxmlformats.org/drawingml/2006/main" l="1436" t="0" r="14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1257300"/>
            <a:ext cx="5095875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C4C3D-BF57-4685-B147-1599A0C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509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B7EC1-ECFF-45F3-9CE1-9D1A329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概念效果图，非实物照片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79E9-37CE-4CAD-8035-50C9B9A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52863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持续功率：140 kW（最大功率连续工作 20 min）</a:t>
            </a:r>
          </a:p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阻值：2.24 Ω ±10%（冷态 @25℃）</a:t>
            </a:r>
          </a:p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工作电压：450–850 V DC（最高 1000 V DC），额定电流 250 A</a:t>
            </a:r>
          </a:p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防护等级：IP6K9K；耐振动 6g（ISO 16750-3）</a:t>
            </a:r>
          </a:p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环境温度：-40℃ ～ +85℃（工作温度至 +110℃）</a:t>
            </a:r>
          </a:p>
          <a:p xmlns:a="http://schemas.openxmlformats.org/drawingml/2006/main">
            <a:pPr algn="l">
              <a:defRPr sz="1275" b="0">
                <a:solidFill>
                  <a:srgbClr val="12243A"/>
                </a:solidFill>
              </a:defRPr>
            </a:pPr>
            <a:r>
              <a:rPr sz="1275" b="0">
                <a:solidFill>
                  <a:srgbClr val="12243A"/>
                </a:solidFill>
              </a:rPr>
              <a:t>• 尺寸：659 × 232 × 253 mm；重量约 40 kg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A0B87-72CD-4E1E-AF8E-6D2B0B26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2243A"/>
                </a:solidFill>
              </a:defRPr>
            </a:pPr>
            <a:r>
              <a:rPr sz="1125" b="0">
                <a:solidFill>
                  <a:srgbClr val="12243A"/>
                </a:solidFill>
              </a:rPr>
              <a:t>• 冷却：水冷，50% 水 + 50% 乙二醇，DN32 接口</a:t>
            </a:r>
          </a:p>
          <a:p xmlns:a="http://schemas.openxmlformats.org/drawingml/2006/main">
            <a:pPr algn="l">
              <a:defRPr sz="1125" b="0">
                <a:solidFill>
                  <a:srgbClr val="12243A"/>
                </a:solidFill>
              </a:defRPr>
            </a:pPr>
            <a:r>
              <a:rPr sz="1125" b="0">
                <a:solidFill>
                  <a:srgbClr val="12243A"/>
                </a:solidFill>
              </a:rPr>
              <a:t>• 温度检测：NTC 5K ±1%；高压互锁 HVIL</a:t>
            </a:r>
          </a:p>
          <a:p xmlns:a="http://schemas.openxmlformats.org/drawingml/2006/main">
            <a:pPr algn="l">
              <a:defRPr sz="1125" b="0">
                <a:solidFill>
                  <a:srgbClr val="12243A"/>
                </a:solidFill>
              </a:defRPr>
            </a:pPr>
            <a:r>
              <a:rPr sz="1125" b="0">
                <a:solidFill>
                  <a:srgbClr val="12243A"/>
                </a:solidFill>
              </a:rPr>
              <a:t>• 连接器：高压 TE 2-2399607-1 / 低压 TE 1-1703820-1</a:t>
            </a:r>
          </a:p>
          <a:p xmlns:a="http://schemas.openxmlformats.org/drawingml/2006/main">
            <a:pPr algn="l">
              <a:defRPr sz="1125" b="0">
                <a:solidFill>
                  <a:srgbClr val="12243A"/>
                </a:solidFill>
              </a:defRPr>
            </a:pPr>
            <a:r>
              <a:rPr sz="1125" b="0">
                <a:solidFill>
                  <a:srgbClr val="12243A"/>
                </a:solidFill>
              </a:rPr>
              <a:t>• 绝缘：&gt;100 MΩ（1000V DC）；耐压 4000 V DC / 60 s</a:t>
            </a:r>
          </a:p>
          <a:p xmlns:a="http://schemas.openxmlformats.org/drawingml/2006/main">
            <a:pPr algn="l">
              <a:defRPr sz="1125" b="0">
                <a:solidFill>
                  <a:srgbClr val="12243A"/>
                </a:solidFill>
              </a:defRPr>
            </a:pPr>
            <a:r>
              <a:rPr sz="1125" b="0">
                <a:solidFill>
                  <a:srgbClr val="12243A"/>
                </a:solidFill>
              </a:rPr>
              <a:t>• 材料：符合 RoHS / ELV；安装：卧式支架或吊装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0C5B1-EA30-4DC5-B70F-A6237BE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1324395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6C8B-5E80-410C-B118-4D2EF604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为什么是水冷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B7C11-B223-4FF5-A97F-879D257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4F21D-46F0-413E-BB4F-983C171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F97A7-9A45-40D4-987A-D0C2D03C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43A"/>
                </a:solidFill>
              </a:defRPr>
            </a:pPr>
            <a:r>
              <a:rPr sz="2100" b="1">
                <a:solidFill>
                  <a:srgbClr val="12243A"/>
                </a:solidFill>
              </a:rPr>
              <a:t>140 kW 级持续耗散，风冷体积与噪声代价大；水冷把热量直接带进整车冷却回路。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5E109-C4E8-4495-83BB-4786C067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199D7-C2B9-4847-AD98-B4DA02D5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D7D2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D7D2F"/>
                </a:solidFill>
              </a:defRPr>
            </a:pPr>
            <a:r>
              <a:rPr sz="2100" b="1">
                <a:solidFill>
                  <a:srgbClr val="4D7D2F"/>
                </a:solidFill>
              </a:rPr>
              <a:t>散热能力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9C5E-7B04-4FBC-862B-93F22C9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水冷回路持续带走热量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EBA1E-3F23-4D18-B3BE-816E50A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D3039-7469-4171-825C-C1EFFD05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417C"/>
                </a:solidFill>
              </a:defRPr>
            </a:pPr>
            <a:r>
              <a:rPr sz="2100" b="1">
                <a:solidFill>
                  <a:srgbClr val="24417C"/>
                </a:solidFill>
              </a:rPr>
              <a:t>体积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CF37-D275-43A7-B508-A5D881A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减少风冷所需的大体积结构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84D5B-B0F3-48CA-8372-9C5DBE5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9E9C6-FBEC-4530-9C2F-239C16F8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D7D2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D7D2F"/>
                </a:solidFill>
              </a:defRPr>
            </a:pPr>
            <a:r>
              <a:rPr sz="2100" b="1">
                <a:solidFill>
                  <a:srgbClr val="4D7D2F"/>
                </a:solidFill>
              </a:rPr>
              <a:t>系统集成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E21B-E951-4CFA-99E8-B9EC202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接入整车热管理回路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BD7C4-DED4-41AB-8C78-046919D5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F7185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7185"/>
                </a:solidFill>
              </a:defRPr>
            </a:pPr>
            <a:r>
              <a:rPr sz="1425" b="0">
                <a:solidFill>
                  <a:srgbClr val="5F7185"/>
                </a:solidFill>
              </a:rPr>
              <a:t>对比点：散热能力 / 体积 / 与整车热管理系统的集成度（中立对比，不贬竞品）。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EBA37-BE7E-471D-A6AF-0EDC5690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1266701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E369E-1727-4C41-8AB3-AE9BE75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三种产品形态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0FCA6-CED6-45F2-8F83-E382ED41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BFB26-DB58-4016-8AF1-148CA93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1D9E-CFBA-487B-9936-A77D0232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83BD54"/>
                </a:solidFill>
              </a:defRPr>
            </a:pPr>
            <a:r>
              <a:rPr sz="2550" b="1">
                <a:solidFill>
                  <a:srgbClr val="83BD5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EE79F-8933-4975-B999-8B791A12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287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纯制动耗能单元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0DF04-0E80-4F4F-BA41-D5518ECF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097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液冷制动电阻本体，不含斩波——已有正式规格（P3），项目可直接定型。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DB27F-A374-4B8E-A1B8-A167E71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66950"/>
            <a:ext cx="957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8584F-72F1-47DA-9D62-1870C86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83BD54"/>
                </a:solidFill>
              </a:defRPr>
            </a:pPr>
            <a:r>
              <a:rPr sz="2550" b="1">
                <a:solidFill>
                  <a:srgbClr val="83BD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DAF0C-4A94-4BDF-9809-65671F1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57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电阻 + 斩波分体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9B151-7338-4827-A3F4-04CC87B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斩波控制器与电阻 CAN 协同，按母线电压把能量导向电阻（自有配套方案）。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2858D-1C70-4AE9-9C68-8BADF142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95700"/>
            <a:ext cx="957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83D08-7248-48B5-9422-1048146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83BD54"/>
                </a:solidFill>
              </a:defRPr>
            </a:pPr>
            <a:r>
              <a:rPr sz="2550" b="1">
                <a:solidFill>
                  <a:srgbClr val="83BD5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6FEF1-161A-4915-9927-65DD491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86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斩波 + 制动一体集成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5D1D5-AB57-458A-93BE-1FD41CE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2243A"/>
                </a:solidFill>
              </a:defRPr>
            </a:pPr>
            <a:r>
              <a:rPr sz="1500" b="0">
                <a:solidFill>
                  <a:srgbClr val="12243A"/>
                </a:solidFill>
              </a:rPr>
              <a:t>高度集成方案，低 EMI 设计（按项目定制）。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6C4FC-0EF9-4259-8B7B-3527C6BD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957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AFDCD-5FF8-4F87-AD15-419B1228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43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F7185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7185"/>
                </a:solidFill>
              </a:defRPr>
            </a:pPr>
            <a:r>
              <a:rPr sz="1350" b="0">
                <a:solidFill>
                  <a:srgbClr val="5F7185"/>
                </a:solidFill>
              </a:rPr>
              <a:t>注：形态 2、3 的控制器参数为方案设计值，具体按项目确认。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FA6E2-95CB-4FD1-A419-0F8DCAD3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32197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D363A-2F92-4C60-8345-8170F3E7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制动热回收：从负担变资源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4A73-B8D9-4D7D-8B3F-10788ACF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63F71-2A1B-4934-9425-7535E34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3DB5-2BEC-4EB4-9929-47672BE73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f1657e5e74c48"/>
          <a:srcRect xmlns:a="http://schemas.openxmlformats.org/drawingml/2006/main" l="8973" t="0" r="89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285875"/>
            <a:ext cx="528637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C45C9-D747-4E4D-8C95-4578D9D2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43A"/>
                </a:solidFill>
              </a:defRPr>
            </a:pPr>
            <a:r>
              <a:rPr sz="2175" b="1">
                <a:solidFill>
                  <a:srgbClr val="12243A"/>
                </a:solidFill>
              </a:rPr>
              <a:t>制动产生的热经冷却液回收，可用于座舱供暖 / 电池预热。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14E5E-BAC8-4B0B-81B0-46863A9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417C"/>
                </a:solidFill>
              </a:defRPr>
            </a:pPr>
            <a:r>
              <a:rPr sz="1800" b="0">
                <a:solidFill>
                  <a:srgbClr val="24417C"/>
                </a:solidFill>
              </a:rPr>
              <a:t>与 EVLINK 电池热管理（BTMS）、高压 PTC 加热器、三合一热管理控制器打通：全车热管理统一视角。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58648-B52F-4274-839F-08AAA4A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B79D2-A6B5-4863-9EAE-CFD5026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965902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DAC41-4959-4C70-AC1A-B827741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应用场景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7CDC5-A444-4A3F-8099-5CBA3CCA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87FDB-5278-4F19-BA9A-D38A975F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10FA3-F867-4345-BA94-B2A5CCB3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76F83-83DB-4154-8C72-D2529DC79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309e67a4845b8"/>
          <a:stretch xmlns:a="http://schemas.openxmlformats.org/drawingml/2006/main"/>
        </p:blipFill>
        <p:spPr>
          <a:xfrm xmlns:a="http://schemas.openxmlformats.org/drawingml/2006/main">
            <a:off x="1217334" y="1762125"/>
            <a:ext cx="1470581" cy="1485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FA675-98A5-4CEF-8B33-3E8D298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417C"/>
                </a:solidFill>
              </a:defRPr>
            </a:pPr>
            <a:r>
              <a:rPr sz="1725" b="1">
                <a:solidFill>
                  <a:srgbClr val="24417C"/>
                </a:solidFill>
              </a:rPr>
              <a:t>电动大巴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E26F-FFA0-48F5-A18A-DF4F75F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97A2F-26E2-48F8-BF38-FC255B950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9d19042fd464b"/>
          <a:stretch xmlns:a="http://schemas.openxmlformats.org/drawingml/2006/main"/>
        </p:blipFill>
        <p:spPr>
          <a:xfrm xmlns:a="http://schemas.openxmlformats.org/drawingml/2006/main">
            <a:off x="4074834" y="1762125"/>
            <a:ext cx="1470581" cy="1485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4339C-16CE-4C6E-92BE-38C6B16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417C"/>
                </a:solidFill>
              </a:defRPr>
            </a:pPr>
            <a:r>
              <a:rPr sz="1725" b="1">
                <a:solidFill>
                  <a:srgbClr val="24417C"/>
                </a:solidFill>
              </a:rPr>
              <a:t>电动重卡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B45A8-4128-4594-BAF2-39F03219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77A1A-EB92-4A28-8145-A8F8D982F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55650ca144d87"/>
          <a:stretch xmlns:a="http://schemas.openxmlformats.org/drawingml/2006/main"/>
        </p:blipFill>
        <p:spPr>
          <a:xfrm xmlns:a="http://schemas.openxmlformats.org/drawingml/2006/main">
            <a:off x="6936164" y="1762125"/>
            <a:ext cx="1462922" cy="1485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48E60-1A77-4F88-8DD0-AB6A49E8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417C"/>
                </a:solidFill>
              </a:defRPr>
            </a:pPr>
            <a:r>
              <a:rPr sz="1725" b="1">
                <a:solidFill>
                  <a:srgbClr val="24417C"/>
                </a:solidFill>
              </a:rPr>
              <a:t>矿用卡车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A137D-422D-4693-B643-93747893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76375"/>
            <a:ext cx="2381250" cy="25241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84818-6D7B-4058-8C3D-FAF6EABFF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acbd6108b4302"/>
          <a:stretch xmlns:a="http://schemas.openxmlformats.org/drawingml/2006/main"/>
        </p:blipFill>
        <p:spPr>
          <a:xfrm xmlns:a="http://schemas.openxmlformats.org/drawingml/2006/main">
            <a:off x="9789834" y="1762125"/>
            <a:ext cx="1470581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0BF19-27D9-407D-B3D2-97EE363F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417C"/>
                </a:solidFill>
              </a:defRPr>
            </a:pPr>
            <a:r>
              <a:rPr sz="1725" b="1">
                <a:solidFill>
                  <a:srgbClr val="24417C"/>
                </a:solidFill>
              </a:rPr>
              <a:t>工程机械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C5D71-7B7C-49B1-83AD-3443DD2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2243A"/>
                </a:solidFill>
              </a:defRPr>
            </a:pPr>
            <a:r>
              <a:rPr sz="2250" b="1">
                <a:solidFill>
                  <a:srgbClr val="12243A"/>
                </a:solidFill>
              </a:rPr>
              <a:t>典型工况：长下坡持续制动、重载频繁制动。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572C7-8D42-40C3-8AD6-7E3C2DCB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61496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61040-26DB-4CCA-9E54-10804C1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选型方法（三步）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0EA21-70BE-46C4-9E6B-82F163A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B4CA6-83C9-44F3-B51F-43B28572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4403B-0CDB-4491-932B-431937B9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076D9-886A-4AE6-AE33-8F37A07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17C98-CFBC-43A3-A7A2-DD6F020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09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417C"/>
                </a:solidFill>
              </a:defRPr>
            </a:pPr>
            <a:r>
              <a:rPr sz="1800" b="1">
                <a:solidFill>
                  <a:srgbClr val="24417C"/>
                </a:solidFill>
              </a:rPr>
              <a:t>算连续功率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6FCAF-5FC3-490C-839A-7EBE30FA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71600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43A"/>
                </a:solidFill>
              </a:defRPr>
            </a:pPr>
            <a:r>
              <a:rPr sz="1425" b="0">
                <a:solidFill>
                  <a:srgbClr val="12243A"/>
                </a:solidFill>
              </a:rPr>
              <a:t>车重 × 坡度 × 车速经验估算（例：20 t 卡车、7% 坡、30 km/h 恒速 ≈ 100 kW 连续制动功率）。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1F02F-13A1-451C-8F45-31513F1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789C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95D82-A77F-410B-AC1F-840E2BB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DE145-0CB2-4A0C-8BDA-8FF400A2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67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417C"/>
                </a:solidFill>
              </a:defRPr>
            </a:pPr>
            <a:r>
              <a:rPr sz="1800" b="1">
                <a:solidFill>
                  <a:srgbClr val="24417C"/>
                </a:solidFill>
              </a:rPr>
              <a:t>定阻值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434D1-9FD7-4953-ACF4-6987867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28900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43A"/>
                </a:solidFill>
              </a:defRPr>
            </a:pPr>
            <a:r>
              <a:rPr sz="1425" b="0">
                <a:solidFill>
                  <a:srgbClr val="12243A"/>
                </a:solidFill>
              </a:rPr>
              <a:t>按 U²/P 适配 450–850 V 母线电压，阻值定制不换平台。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1178F-3A05-4A50-A63A-7DFEEC6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67A87-071B-48B1-AFA8-0488F6D9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CF7BC-A55E-4A86-B5D2-B043A877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24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417C"/>
                </a:solidFill>
              </a:defRPr>
            </a:pPr>
            <a:r>
              <a:rPr sz="1800" b="1">
                <a:solidFill>
                  <a:srgbClr val="24417C"/>
                </a:solidFill>
              </a:rPr>
              <a:t>看工作制与冷却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7FC8F-7FF7-442F-A767-96EF426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86200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43A"/>
                </a:solidFill>
              </a:defRPr>
            </a:pPr>
            <a:r>
              <a:rPr sz="1425" b="0">
                <a:solidFill>
                  <a:srgbClr val="12243A"/>
                </a:solidFill>
              </a:rPr>
              <a:t>持续工作时间、冷却接口、水温条件按项目核对。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198E-1934-4417-ABF6-E8B99181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429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1A119-DF85-44A1-9142-D8EABB3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9A5A12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A5A12"/>
                </a:solidFill>
              </a:defRPr>
            </a:pPr>
            <a:r>
              <a:rPr sz="1500" b="1">
                <a:solidFill>
                  <a:srgbClr val="9A5A12"/>
                </a:solidFill>
              </a:rPr>
              <a:t>常见错误：只看峰值不看持续、忽略下坡时长、漏掉温度监测与高压互锁。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AF798-3330-4396-889F-BB917F0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14396684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17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D5FED-5DDA-4300-BD49-EE4EDF8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验证体系：25 项试验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13FE2-5227-4168-B9AA-3009070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BDD2E5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BDD2E5"/>
                </a:solidFill>
              </a:defRPr>
            </a:pPr>
            <a:r>
              <a:rPr sz="1200" b="1">
                <a:solidFill>
                  <a:srgbClr val="BDD2E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E1D3A-21D9-4A25-BCB3-03E23287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627ED-EE1F-4D01-A73F-20CC81B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05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83BD54"/>
                </a:solidFill>
              </a:defRPr>
            </a:pPr>
            <a:r>
              <a:rPr sz="7050" b="1">
                <a:solidFill>
                  <a:srgbClr val="83BD54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C1C9-7775-4BEC-A75D-7C61EC4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项验证覆盖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A240-CB3A-4D70-ABF6-6403571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7762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制动功能试验（140 kW）、功能耐久 9360 循环 / 4693 h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盐雾 336 h（ASTM B117）、IPX6K / IP6K9K（ISO 20653）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高低温、温度循环、湿热、机械冲击与振动（ISO 16750-3）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出厂 + 型式试验全覆盖（依据标准列出，不宣称认证）。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7F4A3-C93B-44B6-BCE8-0F33CDDF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34000"/>
            <a:ext cx="776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907BC-6587-4870-A82E-E2236B6C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BDD2E5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DD2E5"/>
                </a:solidFill>
              </a:defRPr>
            </a:pPr>
            <a:r>
              <a:rPr sz="825" b="0">
                <a:solidFill>
                  <a:srgbClr val="BDD2E5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433269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0A38E-2A63-492B-96B2-93A9382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417C"/>
                </a:solidFill>
              </a:defRPr>
            </a:pPr>
            <a:r>
              <a:rPr sz="2550" b="1">
                <a:solidFill>
                  <a:srgbClr val="24417C"/>
                </a:solidFill>
              </a:rPr>
              <a:t>按项目定制：需要你提供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C561F-432B-47EA-B78D-F3B27498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4789C6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4789C6"/>
                </a:solidFill>
              </a:defRPr>
            </a:pPr>
            <a:r>
              <a:rPr sz="1200" b="1">
                <a:solidFill>
                  <a:srgbClr val="4789C6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6536D-8DF2-4061-9EC9-405FDB8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BBC4F-C8F4-403C-8F47-AB9A9971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810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25B5-2843-4940-9B9D-B69989C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621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3BD54"/>
                </a:solidFill>
              </a:defRPr>
            </a:pPr>
            <a:r>
              <a:rPr sz="2400" b="1">
                <a:solidFill>
                  <a:srgbClr val="83BD5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55723-AFE8-481D-B4CA-8C7EBB1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811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车型与吨位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A0232-AF93-4D65-9C21-D362375E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71625"/>
            <a:ext cx="4810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CD374-DFB7-4473-A585-46EC6A0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621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3BD54"/>
                </a:solidFill>
              </a:defRPr>
            </a:pPr>
            <a:r>
              <a:rPr sz="2400" b="1">
                <a:solidFill>
                  <a:srgbClr val="83BD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56F46-025E-4C44-9292-79015F52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811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典型坡度与车速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751B2-324B-4C9F-B974-311BD88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4810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1C812-25BE-4CB1-978F-0F25E4B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3850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3BD54"/>
                </a:solidFill>
              </a:defRPr>
            </a:pPr>
            <a:r>
              <a:rPr sz="2400" b="1">
                <a:solidFill>
                  <a:srgbClr val="83BD5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29D05-53DB-4B8D-8DB4-0A70321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母线电压平台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3E44A-DE64-4659-8DA9-C7B5687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48000"/>
            <a:ext cx="4810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E0388-A7C1-4954-A768-25272A0E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3850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83BD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3BD54"/>
                </a:solidFill>
              </a:defRPr>
            </a:pPr>
            <a:r>
              <a:rPr sz="2400" b="1">
                <a:solidFill>
                  <a:srgbClr val="83BD54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8D003-7FC9-46D8-B543-C93E492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4417C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417C"/>
                </a:solidFill>
              </a:defRPr>
            </a:pPr>
            <a:r>
              <a:rPr sz="1875" b="1">
                <a:solidFill>
                  <a:srgbClr val="24417C"/>
                </a:solidFill>
              </a:rPr>
              <a:t>冷却回路条件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6B7E6-E68C-452A-ACB2-897F70D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14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2243A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2243A"/>
                </a:solidFill>
              </a:defRPr>
            </a:pPr>
            <a:r>
              <a:rPr sz="2100" b="1">
                <a:solidFill>
                  <a:srgbClr val="12243A"/>
                </a:solidFill>
              </a:rPr>
              <a:t>工程师按以上参数核定功率与阻值，给出适配方案。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A665F-D2B6-4C2F-A93A-DE61186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191A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8191A2"/>
                </a:solidFill>
              </a:defRPr>
            </a:pPr>
            <a:r>
              <a:rPr sz="825" b="0">
                <a:solidFill>
                  <a:srgbClr val="8191A2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396763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417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10BE4-A28C-46EB-AAD9-619F044B1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cfde101f6418c"/>
          <a:stretch xmlns:a="http://schemas.openxmlformats.org/drawingml/2006/main"/>
        </p:blipFill>
        <p:spPr>
          <a:xfrm xmlns:a="http://schemas.openxmlformats.org/drawingml/2006/main">
            <a:off x="762000" y="970656"/>
            <a:ext cx="2667000" cy="58281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41BA-8963-472D-8B26-6D9D5B8E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EVLINK — 电动汽车热管理部件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9370A-BB21-4D20-AA55-39B1977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D9E8F3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9E8F3"/>
                </a:solidFill>
              </a:defRPr>
            </a:pPr>
            <a:r>
              <a:rPr sz="1875" b="0">
                <a:solidFill>
                  <a:srgbClr val="D9E8F3"/>
                </a:solidFill>
              </a:rPr>
              <a:t>高压 PTC 水加热器 · 电池热管理系统 · 三合一热管理控制器 · 液冷制动电阻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AAEA2-0845-4B5D-A9B5-AC66E8B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D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999C9-ABED-48E7-9760-6FFC16D5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www.evbtms.com | 把你的车型参数发给我们，工程师帮你核选型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60B5E-C89A-4449-BFE4-47F629CF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BDD2E5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DD2E5"/>
                </a:solidFill>
              </a:defRPr>
            </a:pPr>
            <a:r>
              <a:rPr sz="825" b="0">
                <a:solidFill>
                  <a:srgbClr val="BDD2E5"/>
                </a:solidFill>
              </a:rPr>
              <a:t>EVLINK · www.evbtms.com</a:t>
            </a:r>
          </a:p>
        </p:txBody>
      </p:sp>
    </p:spTree>
    <p:extLst>
      <p:ext uri="{BB962C8B-B14F-4D97-AF65-F5344CB8AC3E}">
        <p14:creationId xmlns:p14="http://schemas.microsoft.com/office/powerpoint/2010/main" val="168402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2026-10-13T06:13:31.7700000Z</dcterms:created>
  <dcterms:modified xsi:type="dcterms:W3CDTF">2026-10-13T06:13:31.7710000Z</dcterms:modified>
</coreProperties>
</file>